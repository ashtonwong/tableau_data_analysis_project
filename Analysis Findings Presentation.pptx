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21"/>
  </p:notesMasterIdLst>
  <p:sldIdLst>
    <p:sldId id="256" r:id="rId2"/>
    <p:sldId id="257" r:id="rId3"/>
    <p:sldId id="347" r:id="rId4"/>
    <p:sldId id="269" r:id="rId5"/>
    <p:sldId id="348" r:id="rId6"/>
    <p:sldId id="354" r:id="rId7"/>
    <p:sldId id="349" r:id="rId8"/>
    <p:sldId id="355" r:id="rId9"/>
    <p:sldId id="350" r:id="rId10"/>
    <p:sldId id="356" r:id="rId11"/>
    <p:sldId id="351" r:id="rId12"/>
    <p:sldId id="357" r:id="rId13"/>
    <p:sldId id="352" r:id="rId14"/>
    <p:sldId id="358" r:id="rId15"/>
    <p:sldId id="353" r:id="rId16"/>
    <p:sldId id="359" r:id="rId17"/>
    <p:sldId id="360" r:id="rId18"/>
    <p:sldId id="363" r:id="rId19"/>
    <p:sldId id="361" r:id="rId20"/>
  </p:sldIdLst>
  <p:sldSz cx="9144000" cy="5143500" type="screen16x9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Vidaloka" panose="020B0604020202020204" charset="0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81AD252-8413-4AAF-ADD3-F32CB9BE9D9B}">
  <a:tblStyle styleId="{681AD252-8413-4AAF-ADD3-F32CB9BE9D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>
          <a:extLst>
            <a:ext uri="{FF2B5EF4-FFF2-40B4-BE49-F238E27FC236}">
              <a16:creationId xmlns:a16="http://schemas.microsoft.com/office/drawing/2014/main" id="{93603129-E7DB-BBE5-5D80-52D431CFF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cf7a3c503a_0_5:notes">
            <a:extLst>
              <a:ext uri="{FF2B5EF4-FFF2-40B4-BE49-F238E27FC236}">
                <a16:creationId xmlns:a16="http://schemas.microsoft.com/office/drawing/2014/main" id="{FED12E68-CA1D-AAF7-7B32-1F15D04E73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cf7a3c503a_0_5:notes">
            <a:extLst>
              <a:ext uri="{FF2B5EF4-FFF2-40B4-BE49-F238E27FC236}">
                <a16:creationId xmlns:a16="http://schemas.microsoft.com/office/drawing/2014/main" id="{F68C1C72-0412-3728-B77B-402A5B98A2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2733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07a9a8b46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107a9a8b46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>
          <a:extLst>
            <a:ext uri="{FF2B5EF4-FFF2-40B4-BE49-F238E27FC236}">
              <a16:creationId xmlns:a16="http://schemas.microsoft.com/office/drawing/2014/main" id="{5D1DB5D9-F236-C4FB-449E-FE50B0481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cf7a3c503a_0_5:notes">
            <a:extLst>
              <a:ext uri="{FF2B5EF4-FFF2-40B4-BE49-F238E27FC236}">
                <a16:creationId xmlns:a16="http://schemas.microsoft.com/office/drawing/2014/main" id="{CA3A52AF-7C05-E2F7-39A3-DA71978548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cf7a3c503a_0_5:notes">
            <a:extLst>
              <a:ext uri="{FF2B5EF4-FFF2-40B4-BE49-F238E27FC236}">
                <a16:creationId xmlns:a16="http://schemas.microsoft.com/office/drawing/2014/main" id="{9E97B380-71BF-4374-48DC-003BC0F04A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3972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E2A78497-43F8-BB59-DCB7-EC4815D68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07a9a8b46f_0_19:notes">
            <a:extLst>
              <a:ext uri="{FF2B5EF4-FFF2-40B4-BE49-F238E27FC236}">
                <a16:creationId xmlns:a16="http://schemas.microsoft.com/office/drawing/2014/main" id="{68A79CA6-F7C7-5305-6131-9BB7C0413E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107a9a8b46f_0_19:notes">
            <a:extLst>
              <a:ext uri="{FF2B5EF4-FFF2-40B4-BE49-F238E27FC236}">
                <a16:creationId xmlns:a16="http://schemas.microsoft.com/office/drawing/2014/main" id="{781880B1-4EE7-4E53-9A89-BDC35F4C2D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8525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>
          <a:extLst>
            <a:ext uri="{FF2B5EF4-FFF2-40B4-BE49-F238E27FC236}">
              <a16:creationId xmlns:a16="http://schemas.microsoft.com/office/drawing/2014/main" id="{02B68B0A-A3E0-981A-12D5-25A95BA04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cf7a3c503a_0_5:notes">
            <a:extLst>
              <a:ext uri="{FF2B5EF4-FFF2-40B4-BE49-F238E27FC236}">
                <a16:creationId xmlns:a16="http://schemas.microsoft.com/office/drawing/2014/main" id="{2DA322D6-7017-514D-D6AA-965D223B2C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cf7a3c503a_0_5:notes">
            <a:extLst>
              <a:ext uri="{FF2B5EF4-FFF2-40B4-BE49-F238E27FC236}">
                <a16:creationId xmlns:a16="http://schemas.microsoft.com/office/drawing/2014/main" id="{6908EC65-95E4-2701-8331-780B25F60A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2732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0A147036-1FCE-B276-DCC5-13A389C11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07a9a8b46f_0_19:notes">
            <a:extLst>
              <a:ext uri="{FF2B5EF4-FFF2-40B4-BE49-F238E27FC236}">
                <a16:creationId xmlns:a16="http://schemas.microsoft.com/office/drawing/2014/main" id="{1AA65800-4DF8-09F9-7DEA-4E7B501663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107a9a8b46f_0_19:notes">
            <a:extLst>
              <a:ext uri="{FF2B5EF4-FFF2-40B4-BE49-F238E27FC236}">
                <a16:creationId xmlns:a16="http://schemas.microsoft.com/office/drawing/2014/main" id="{175068EF-A7B0-A4A9-2C6E-3C16D10B0A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3089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>
          <a:extLst>
            <a:ext uri="{FF2B5EF4-FFF2-40B4-BE49-F238E27FC236}">
              <a16:creationId xmlns:a16="http://schemas.microsoft.com/office/drawing/2014/main" id="{A4E062B9-2EEE-43EF-DAAA-A184A05BF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cf7a3c503a_0_5:notes">
            <a:extLst>
              <a:ext uri="{FF2B5EF4-FFF2-40B4-BE49-F238E27FC236}">
                <a16:creationId xmlns:a16="http://schemas.microsoft.com/office/drawing/2014/main" id="{3513CA68-FF73-8FE5-99A6-9BFEF798E6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cf7a3c503a_0_5:notes">
            <a:extLst>
              <a:ext uri="{FF2B5EF4-FFF2-40B4-BE49-F238E27FC236}">
                <a16:creationId xmlns:a16="http://schemas.microsoft.com/office/drawing/2014/main" id="{961D93C7-EFEF-2905-8D01-747D039A04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40299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957486D3-3737-45E6-C57F-0185BEA74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07a9a8b46f_0_19:notes">
            <a:extLst>
              <a:ext uri="{FF2B5EF4-FFF2-40B4-BE49-F238E27FC236}">
                <a16:creationId xmlns:a16="http://schemas.microsoft.com/office/drawing/2014/main" id="{A09A2107-F634-8EA9-33AC-D76137AE08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107a9a8b46f_0_19:notes">
            <a:extLst>
              <a:ext uri="{FF2B5EF4-FFF2-40B4-BE49-F238E27FC236}">
                <a16:creationId xmlns:a16="http://schemas.microsoft.com/office/drawing/2014/main" id="{102A18CD-29EB-32C7-93CB-40C4F00E62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6964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>
          <a:extLst>
            <a:ext uri="{FF2B5EF4-FFF2-40B4-BE49-F238E27FC236}">
              <a16:creationId xmlns:a16="http://schemas.microsoft.com/office/drawing/2014/main" id="{2C100423-6B38-9721-5C02-F2902676A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cf7a3c503a_0_5:notes">
            <a:extLst>
              <a:ext uri="{FF2B5EF4-FFF2-40B4-BE49-F238E27FC236}">
                <a16:creationId xmlns:a16="http://schemas.microsoft.com/office/drawing/2014/main" id="{E2A43F9E-566D-4E60-680F-FB651B26A0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cf7a3c503a_0_5:notes">
            <a:extLst>
              <a:ext uri="{FF2B5EF4-FFF2-40B4-BE49-F238E27FC236}">
                <a16:creationId xmlns:a16="http://schemas.microsoft.com/office/drawing/2014/main" id="{F3686B08-5DE2-EB58-5791-D9BDFACB85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5843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D2F275BF-2552-8F62-00A4-D9CEBD33C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07a9a8b46f_0_19:notes">
            <a:extLst>
              <a:ext uri="{FF2B5EF4-FFF2-40B4-BE49-F238E27FC236}">
                <a16:creationId xmlns:a16="http://schemas.microsoft.com/office/drawing/2014/main" id="{E394D242-B661-C7DD-0458-E579FCF4D1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107a9a8b46f_0_19:notes">
            <a:extLst>
              <a:ext uri="{FF2B5EF4-FFF2-40B4-BE49-F238E27FC236}">
                <a16:creationId xmlns:a16="http://schemas.microsoft.com/office/drawing/2014/main" id="{D2829943-A5DA-6AAB-45F6-8A38608F2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73846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>
          <a:extLst>
            <a:ext uri="{FF2B5EF4-FFF2-40B4-BE49-F238E27FC236}">
              <a16:creationId xmlns:a16="http://schemas.microsoft.com/office/drawing/2014/main" id="{64328E69-4A81-8452-DE43-5778C9E29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cf7a3c503a_0_5:notes">
            <a:extLst>
              <a:ext uri="{FF2B5EF4-FFF2-40B4-BE49-F238E27FC236}">
                <a16:creationId xmlns:a16="http://schemas.microsoft.com/office/drawing/2014/main" id="{FFFE7867-DBC0-A2A8-C08E-C9F2228742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cf7a3c503a_0_5:notes">
            <a:extLst>
              <a:ext uri="{FF2B5EF4-FFF2-40B4-BE49-F238E27FC236}">
                <a16:creationId xmlns:a16="http://schemas.microsoft.com/office/drawing/2014/main" id="{B0462D2C-0C5D-330F-BF8A-64E432F988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24647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740819D1-8F89-3A45-E3EF-5AB335028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07a9a8b46f_0_19:notes">
            <a:extLst>
              <a:ext uri="{FF2B5EF4-FFF2-40B4-BE49-F238E27FC236}">
                <a16:creationId xmlns:a16="http://schemas.microsoft.com/office/drawing/2014/main" id="{274FABBF-CE14-ED18-8303-94957F488C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107a9a8b46f_0_19:notes">
            <a:extLst>
              <a:ext uri="{FF2B5EF4-FFF2-40B4-BE49-F238E27FC236}">
                <a16:creationId xmlns:a16="http://schemas.microsoft.com/office/drawing/2014/main" id="{39B30057-A894-2030-12CA-0235D950AA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1057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>
          <a:extLst>
            <a:ext uri="{FF2B5EF4-FFF2-40B4-BE49-F238E27FC236}">
              <a16:creationId xmlns:a16="http://schemas.microsoft.com/office/drawing/2014/main" id="{13770918-195E-1E5A-22F9-59E32E36C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cf7a3c503a_0_5:notes">
            <a:extLst>
              <a:ext uri="{FF2B5EF4-FFF2-40B4-BE49-F238E27FC236}">
                <a16:creationId xmlns:a16="http://schemas.microsoft.com/office/drawing/2014/main" id="{4F596C20-530F-3353-1DC2-FD8646A803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cf7a3c503a_0_5:notes">
            <a:extLst>
              <a:ext uri="{FF2B5EF4-FFF2-40B4-BE49-F238E27FC236}">
                <a16:creationId xmlns:a16="http://schemas.microsoft.com/office/drawing/2014/main" id="{509E9D6B-4A55-581B-F9C9-A62FC08EA7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56176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3084A583-4A2A-79F9-AEA5-D5E9C1E18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07a9a8b46f_0_19:notes">
            <a:extLst>
              <a:ext uri="{FF2B5EF4-FFF2-40B4-BE49-F238E27FC236}">
                <a16:creationId xmlns:a16="http://schemas.microsoft.com/office/drawing/2014/main" id="{59BCAF0C-F53B-0592-78B4-740695094B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107a9a8b46f_0_19:notes">
            <a:extLst>
              <a:ext uri="{FF2B5EF4-FFF2-40B4-BE49-F238E27FC236}">
                <a16:creationId xmlns:a16="http://schemas.microsoft.com/office/drawing/2014/main" id="{2DB38F4E-1771-7134-F82C-809A958366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63993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E65B7032-C5CC-16BA-BF99-8226F8A1B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>
            <a:extLst>
              <a:ext uri="{FF2B5EF4-FFF2-40B4-BE49-F238E27FC236}">
                <a16:creationId xmlns:a16="http://schemas.microsoft.com/office/drawing/2014/main" id="{DD0499A4-0705-5D24-38C5-A685743DD3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>
            <a:extLst>
              <a:ext uri="{FF2B5EF4-FFF2-40B4-BE49-F238E27FC236}">
                <a16:creationId xmlns:a16="http://schemas.microsoft.com/office/drawing/2014/main" id="{406DA472-E612-B7B8-5273-EBAAD59200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64919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F0E9DE5B-1914-808A-7CF7-7290C351E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07a9a8b46f_0_19:notes">
            <a:extLst>
              <a:ext uri="{FF2B5EF4-FFF2-40B4-BE49-F238E27FC236}">
                <a16:creationId xmlns:a16="http://schemas.microsoft.com/office/drawing/2014/main" id="{B206D571-5498-1940-1907-68CEBA9A2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107a9a8b46f_0_19:notes">
            <a:extLst>
              <a:ext uri="{FF2B5EF4-FFF2-40B4-BE49-F238E27FC236}">
                <a16:creationId xmlns:a16="http://schemas.microsoft.com/office/drawing/2014/main" id="{4CB0F4F2-355F-F2C3-A21C-C635386DA8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76411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477E662A-148B-B03D-72DA-22D23C67A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>
            <a:extLst>
              <a:ext uri="{FF2B5EF4-FFF2-40B4-BE49-F238E27FC236}">
                <a16:creationId xmlns:a16="http://schemas.microsoft.com/office/drawing/2014/main" id="{90B73508-F7AE-1636-DCA4-46DBF9B7F9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>
            <a:extLst>
              <a:ext uri="{FF2B5EF4-FFF2-40B4-BE49-F238E27FC236}">
                <a16:creationId xmlns:a16="http://schemas.microsoft.com/office/drawing/2014/main" id="{656AFF42-7EA7-EE4E-D606-31098F27C6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5687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867300" y="2366275"/>
            <a:ext cx="7409400" cy="81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291400" y="3305275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6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p2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2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2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170;p2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171;p2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Google Shape;172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5" r:id="rId5"/>
    <p:sldLayoutId id="2147483658" r:id="rId6"/>
    <p:sldLayoutId id="2147483669" r:id="rId7"/>
    <p:sldLayoutId id="2147483697" r:id="rId8"/>
    <p:sldLayoutId id="2147483698" r:id="rId9"/>
    <p:sldLayoutId id="2147483699" r:id="rId10"/>
    <p:sldLayoutId id="214748370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0QS3G4BrATPi_OEm6nh8N9F_vGRrCuOLf4nfRgLgYqg/cop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docs.google.com/spreadsheets/d/10QS3G4BrATPi_OEm6nh8N9F_vGRrCuOLf4nfRgLgYqg/copy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0QS3G4BrATPi_OEm6nh8N9F_vGRrCuOLf4nfRgLgYqg/copy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0QS3G4BrATPi_OEm6nh8N9F_vGRrCuOLf4nfRgLgYqg/cop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0QS3G4BrATPi_OEm6nh8N9F_vGRrCuOLf4nfRgLgYqg/cop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ashton.wong/viz/Book1_17517014528350/Dashboard1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PM10 Corporate Insights: Social Media and News Analysis </a:t>
            </a:r>
            <a:endParaRPr sz="4400" dirty="0"/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Corporate Insights Analyst Exec Accessment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by Wong Ee Shen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75684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My approach to this accessment</a:t>
            </a:r>
            <a:endParaRPr dirty="0"/>
          </a:p>
        </p:txBody>
      </p:sp>
      <p:sp>
        <p:nvSpPr>
          <p:cNvPr id="495" name="Google Shape;495;p61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dirty="0">
                <a:solidFill>
                  <a:schemeClr val="dk1"/>
                </a:solidFill>
              </a:rPr>
              <a:t>Cleaned and prepared data in Excel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dirty="0">
                <a:solidFill>
                  <a:schemeClr val="dk1"/>
                </a:solidFill>
              </a:rPr>
              <a:t>Built insights and visuals using Tableau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dirty="0">
                <a:solidFill>
                  <a:schemeClr val="dk1"/>
                </a:solidFill>
              </a:rPr>
              <a:t>To achieve the technical and aesthetics requirements</a:t>
            </a:r>
          </a:p>
          <a:p>
            <a:pPr indent="-298450">
              <a:buSzPts val="1100"/>
            </a:pPr>
            <a:r>
              <a:rPr lang="en-US" dirty="0">
                <a:solidFill>
                  <a:schemeClr val="dk1"/>
                </a:solidFill>
              </a:rPr>
              <a:t>Goal is to understand public sentiment, platform activity, and influencer engagement around PM10</a:t>
            </a:r>
          </a:p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158750" indent="0">
              <a:buSzPts val="1100"/>
              <a:buNone/>
            </a:pP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>
          <a:extLst>
            <a:ext uri="{FF2B5EF4-FFF2-40B4-BE49-F238E27FC236}">
              <a16:creationId xmlns:a16="http://schemas.microsoft.com/office/drawing/2014/main" id="{0CB4898E-0C3B-ED60-D831-BE9D6FCC8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0">
            <a:extLst>
              <a:ext uri="{FF2B5EF4-FFF2-40B4-BE49-F238E27FC236}">
                <a16:creationId xmlns:a16="http://schemas.microsoft.com/office/drawing/2014/main" id="{A23D4D2E-9558-721F-27E5-F23CC743C4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7300" y="2366275"/>
            <a:ext cx="74094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When did the conversation pick up, peak and tapered off?</a:t>
            </a:r>
            <a:endParaRPr sz="4000" dirty="0"/>
          </a:p>
        </p:txBody>
      </p:sp>
      <p:sp>
        <p:nvSpPr>
          <p:cNvPr id="579" name="Google Shape;579;p70">
            <a:extLst>
              <a:ext uri="{FF2B5EF4-FFF2-40B4-BE49-F238E27FC236}">
                <a16:creationId xmlns:a16="http://schemas.microsoft.com/office/drawing/2014/main" id="{F98374B3-E319-B3C1-995D-598467E0EB0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0640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000" dirty="0"/>
              <a:t>01: When did the conversation pick up, peak and tapered off?</a:t>
            </a:r>
            <a:endParaRPr sz="2000" dirty="0"/>
          </a:p>
        </p:txBody>
      </p:sp>
      <p:sp>
        <p:nvSpPr>
          <p:cNvPr id="614" name="Google Shape;614;p73"/>
          <p:cNvSpPr txBox="1"/>
          <p:nvPr/>
        </p:nvSpPr>
        <p:spPr>
          <a:xfrm>
            <a:off x="5192470" y="1217697"/>
            <a:ext cx="3875330" cy="266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As shown in the chart, conversation activity began around 8 PM on November 28. It slowly tapered off approaching midnight, then picked up again the following morning as people started to wake up.</a:t>
            </a:r>
            <a:endParaRPr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0" name="Google Shape;620;p73">
            <a:hlinkClick r:id="rId3"/>
          </p:cNvPr>
          <p:cNvPicPr preferRelativeResize="0"/>
          <p:nvPr/>
        </p:nvPicPr>
        <p:blipFill>
          <a:blip r:embed="rId4"/>
          <a:srcRect l="859" r="859"/>
          <a:stretch/>
        </p:blipFill>
        <p:spPr>
          <a:xfrm>
            <a:off x="588818" y="1217698"/>
            <a:ext cx="4398818" cy="261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>
          <a:extLst>
            <a:ext uri="{FF2B5EF4-FFF2-40B4-BE49-F238E27FC236}">
              <a16:creationId xmlns:a16="http://schemas.microsoft.com/office/drawing/2014/main" id="{AB4A90BF-66D7-765B-840F-33E631C7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0">
            <a:extLst>
              <a:ext uri="{FF2B5EF4-FFF2-40B4-BE49-F238E27FC236}">
                <a16:creationId xmlns:a16="http://schemas.microsoft.com/office/drawing/2014/main" id="{3A6FF0B2-ACA7-2F5C-D80E-C4F2E21B5E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7300" y="2366275"/>
            <a:ext cx="74094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Where did the conversation come from?</a:t>
            </a:r>
            <a:endParaRPr sz="4000" dirty="0"/>
          </a:p>
        </p:txBody>
      </p:sp>
      <p:sp>
        <p:nvSpPr>
          <p:cNvPr id="579" name="Google Shape;579;p70">
            <a:extLst>
              <a:ext uri="{FF2B5EF4-FFF2-40B4-BE49-F238E27FC236}">
                <a16:creationId xmlns:a16="http://schemas.microsoft.com/office/drawing/2014/main" id="{47132D6F-F3DF-BBCF-B917-B0C1F7E9416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6689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329B343A-13DC-B8F6-2A06-616A4BBCB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3">
            <a:extLst>
              <a:ext uri="{FF2B5EF4-FFF2-40B4-BE49-F238E27FC236}">
                <a16:creationId xmlns:a16="http://schemas.microsoft.com/office/drawing/2014/main" id="{DF6B0F12-6B2D-F838-FF6F-3E6E77F866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000" dirty="0"/>
              <a:t>02: Where did the conversation come from?</a:t>
            </a:r>
            <a:endParaRPr sz="2000" dirty="0"/>
          </a:p>
        </p:txBody>
      </p:sp>
      <p:sp>
        <p:nvSpPr>
          <p:cNvPr id="614" name="Google Shape;614;p73">
            <a:extLst>
              <a:ext uri="{FF2B5EF4-FFF2-40B4-BE49-F238E27FC236}">
                <a16:creationId xmlns:a16="http://schemas.microsoft.com/office/drawing/2014/main" id="{E5A1BBFB-F017-1B06-B92A-AC7048DFE387}"/>
              </a:ext>
            </a:extLst>
          </p:cNvPr>
          <p:cNvSpPr txBox="1"/>
          <p:nvPr/>
        </p:nvSpPr>
        <p:spPr>
          <a:xfrm>
            <a:off x="5192470" y="1217697"/>
            <a:ext cx="3875330" cy="266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Most conversations originated from Twitter, while other platforms contributed a smaller share. To explore how each Channel Type contributes to the discussion, use the Channel Type filter in the </a:t>
            </a:r>
            <a:r>
              <a:rPr lang="en-US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  <a:hlinkClick r:id="rId3" action="ppaction://hlinksldjump"/>
              </a:rPr>
              <a:t>Tableau dashboard</a:t>
            </a:r>
            <a:r>
              <a:rPr lang="en-US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at the end of this presentation. The chart will update dynamically based on your selection.</a:t>
            </a:r>
            <a:endParaRPr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0" name="Google Shape;620;p73">
            <a:hlinkClick r:id="rId4"/>
            <a:extLst>
              <a:ext uri="{FF2B5EF4-FFF2-40B4-BE49-F238E27FC236}">
                <a16:creationId xmlns:a16="http://schemas.microsoft.com/office/drawing/2014/main" id="{956E8A8E-9090-09FD-AD9B-D0F14D45CF95}"/>
              </a:ext>
            </a:extLst>
          </p:cNvPr>
          <p:cNvPicPr preferRelativeResize="0"/>
          <p:nvPr/>
        </p:nvPicPr>
        <p:blipFill>
          <a:blip r:embed="rId5"/>
          <a:srcRect t="2414" b="2414"/>
          <a:stretch/>
        </p:blipFill>
        <p:spPr>
          <a:xfrm>
            <a:off x="588818" y="1217698"/>
            <a:ext cx="4398818" cy="261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619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>
          <a:extLst>
            <a:ext uri="{FF2B5EF4-FFF2-40B4-BE49-F238E27FC236}">
              <a16:creationId xmlns:a16="http://schemas.microsoft.com/office/drawing/2014/main" id="{5884F5A7-765E-BDE8-3967-89F7FB146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0">
            <a:extLst>
              <a:ext uri="{FF2B5EF4-FFF2-40B4-BE49-F238E27FC236}">
                <a16:creationId xmlns:a16="http://schemas.microsoft.com/office/drawing/2014/main" id="{FC6ACB80-B99C-C829-E1DD-9AC49755F5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7300" y="2366275"/>
            <a:ext cx="74094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What did the public feel about the issue?</a:t>
            </a:r>
            <a:endParaRPr sz="4000" dirty="0"/>
          </a:p>
        </p:txBody>
      </p:sp>
      <p:sp>
        <p:nvSpPr>
          <p:cNvPr id="579" name="Google Shape;579;p70">
            <a:extLst>
              <a:ext uri="{FF2B5EF4-FFF2-40B4-BE49-F238E27FC236}">
                <a16:creationId xmlns:a16="http://schemas.microsoft.com/office/drawing/2014/main" id="{AC0483E3-43F7-B9F7-11A1-6BF6B6E2A63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6355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8E91C2D6-4864-479E-F592-0A2EE9BCF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3">
            <a:extLst>
              <a:ext uri="{FF2B5EF4-FFF2-40B4-BE49-F238E27FC236}">
                <a16:creationId xmlns:a16="http://schemas.microsoft.com/office/drawing/2014/main" id="{26C92359-F364-82D8-DFF0-E4EF577325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US" sz="2800"/>
              <a:t>03: What did the public feel about the issue?</a:t>
            </a:r>
          </a:p>
        </p:txBody>
      </p:sp>
      <p:pic>
        <p:nvPicPr>
          <p:cNvPr id="620" name="Google Shape;620;p73" descr="A graph of a number of customers&#10;&#10;AI-generated content may be incorrect.">
            <a:hlinkClick r:id="rId3"/>
            <a:extLst>
              <a:ext uri="{FF2B5EF4-FFF2-40B4-BE49-F238E27FC236}">
                <a16:creationId xmlns:a16="http://schemas.microsoft.com/office/drawing/2014/main" id="{46CDA848-7857-F81F-FFF2-558BAC91806E}"/>
              </a:ext>
            </a:extLst>
          </p:cNvPr>
          <p:cNvPicPr preferRelativeResize="0"/>
          <p:nvPr/>
        </p:nvPicPr>
        <p:blipFill>
          <a:blip r:embed="rId4"/>
          <a:srcRect r="3337"/>
          <a:stretch>
            <a:fillRect/>
          </a:stretch>
        </p:blipFill>
        <p:spPr>
          <a:xfrm>
            <a:off x="713225" y="1208225"/>
            <a:ext cx="1848299" cy="3264408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73">
            <a:extLst>
              <a:ext uri="{FF2B5EF4-FFF2-40B4-BE49-F238E27FC236}">
                <a16:creationId xmlns:a16="http://schemas.microsoft.com/office/drawing/2014/main" id="{F4A6C01F-40F0-C329-1378-1E9BF4496E6C}"/>
              </a:ext>
            </a:extLst>
          </p:cNvPr>
          <p:cNvSpPr txBox="1"/>
          <p:nvPr/>
        </p:nvSpPr>
        <p:spPr>
          <a:xfrm>
            <a:off x="2561524" y="1208225"/>
            <a:ext cx="5869200" cy="3264408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 anchor="t" anchorCtr="0">
            <a:normAutofit/>
          </a:bodyPr>
          <a:lstStyle/>
          <a:p>
            <a:pPr lvl="0" algn="just">
              <a:spcAft>
                <a:spcPts val="600"/>
              </a:spcAft>
              <a:buSzPts val="1100"/>
            </a:pPr>
            <a:r>
              <a:rPr lang="en-US" sz="1500" dirty="0">
                <a:solidFill>
                  <a:schemeClr val="dk1"/>
                </a:solidFill>
                <a:latin typeface="Montserrat" panose="00000500000000000000" pitchFamily="2" charset="0"/>
              </a:rPr>
              <a:t>Most of the public sentiment toward the issue is neutral. Among the remaining responses, positive sentiment slightly outweighs negative sentiment, indicating a generally balanced public reaction.</a:t>
            </a:r>
            <a:endParaRPr lang="en-US" sz="1500" b="0" i="0" u="none" strike="noStrike" cap="none" dirty="0">
              <a:solidFill>
                <a:schemeClr val="dk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78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>
          <a:extLst>
            <a:ext uri="{FF2B5EF4-FFF2-40B4-BE49-F238E27FC236}">
              <a16:creationId xmlns:a16="http://schemas.microsoft.com/office/drawing/2014/main" id="{B6DB5F27-9B5E-947C-2EEE-653213BD0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0">
            <a:extLst>
              <a:ext uri="{FF2B5EF4-FFF2-40B4-BE49-F238E27FC236}">
                <a16:creationId xmlns:a16="http://schemas.microsoft.com/office/drawing/2014/main" id="{C61B7775-7581-5A0A-7DAF-FF088A626F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7300" y="2366275"/>
            <a:ext cx="74094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Who generates the most buzz?</a:t>
            </a:r>
            <a:endParaRPr sz="4000" dirty="0"/>
          </a:p>
        </p:txBody>
      </p:sp>
      <p:sp>
        <p:nvSpPr>
          <p:cNvPr id="579" name="Google Shape;579;p70">
            <a:extLst>
              <a:ext uri="{FF2B5EF4-FFF2-40B4-BE49-F238E27FC236}">
                <a16:creationId xmlns:a16="http://schemas.microsoft.com/office/drawing/2014/main" id="{A2FA798B-5335-F924-C2A9-3940EC5E56D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8092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D857E359-69C1-C09C-C230-4AF43A690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3">
            <a:extLst>
              <a:ext uri="{FF2B5EF4-FFF2-40B4-BE49-F238E27FC236}">
                <a16:creationId xmlns:a16="http://schemas.microsoft.com/office/drawing/2014/main" id="{B2ED322B-2DB4-EF7A-C82E-A2DDCBD0C1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000" dirty="0"/>
              <a:t>04: Who generates the most buzz?</a:t>
            </a:r>
            <a:endParaRPr sz="2000" dirty="0"/>
          </a:p>
        </p:txBody>
      </p:sp>
      <p:sp>
        <p:nvSpPr>
          <p:cNvPr id="614" name="Google Shape;614;p73">
            <a:extLst>
              <a:ext uri="{FF2B5EF4-FFF2-40B4-BE49-F238E27FC236}">
                <a16:creationId xmlns:a16="http://schemas.microsoft.com/office/drawing/2014/main" id="{C8254DCE-1D7E-F128-CBA4-74C7E49B2D89}"/>
              </a:ext>
            </a:extLst>
          </p:cNvPr>
          <p:cNvSpPr txBox="1"/>
          <p:nvPr/>
        </p:nvSpPr>
        <p:spPr>
          <a:xfrm>
            <a:off x="5192470" y="1217697"/>
            <a:ext cx="3875330" cy="266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As shown in the graph,  these are the top 10 Twitter users ranked by total engagement. Syed Saddiq generated the most buzz on Twitter.</a:t>
            </a:r>
            <a:endParaRPr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0" name="Google Shape;620;p73">
            <a:hlinkClick r:id="rId3"/>
            <a:extLst>
              <a:ext uri="{FF2B5EF4-FFF2-40B4-BE49-F238E27FC236}">
                <a16:creationId xmlns:a16="http://schemas.microsoft.com/office/drawing/2014/main" id="{1A5F4498-5A51-AF9A-23CF-6870295C773C}"/>
              </a:ext>
            </a:extLst>
          </p:cNvPr>
          <p:cNvPicPr preferRelativeResize="0"/>
          <p:nvPr/>
        </p:nvPicPr>
        <p:blipFill>
          <a:blip r:embed="rId4"/>
          <a:srcRect l="417" r="417"/>
          <a:stretch/>
        </p:blipFill>
        <p:spPr>
          <a:xfrm>
            <a:off x="588818" y="1495706"/>
            <a:ext cx="4398818" cy="261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5269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>
          <a:extLst>
            <a:ext uri="{FF2B5EF4-FFF2-40B4-BE49-F238E27FC236}">
              <a16:creationId xmlns:a16="http://schemas.microsoft.com/office/drawing/2014/main" id="{ACCBE525-EAA4-AD31-EBDD-EE4F6EA5A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0">
            <a:extLst>
              <a:ext uri="{FF2B5EF4-FFF2-40B4-BE49-F238E27FC236}">
                <a16:creationId xmlns:a16="http://schemas.microsoft.com/office/drawing/2014/main" id="{2B5BB4A6-D430-A5BD-4420-3244159136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7300" y="2366275"/>
            <a:ext cx="74094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How many unique users talked about the issue?</a:t>
            </a:r>
            <a:endParaRPr sz="4000" dirty="0"/>
          </a:p>
        </p:txBody>
      </p:sp>
      <p:sp>
        <p:nvSpPr>
          <p:cNvPr id="579" name="Google Shape;579;p70">
            <a:extLst>
              <a:ext uri="{FF2B5EF4-FFF2-40B4-BE49-F238E27FC236}">
                <a16:creationId xmlns:a16="http://schemas.microsoft.com/office/drawing/2014/main" id="{5EB6BB1C-F225-CE72-ACC5-A1281DFFC02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3655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FE1C4825-42FE-D6F8-DE78-83E25A8BE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3">
            <a:extLst>
              <a:ext uri="{FF2B5EF4-FFF2-40B4-BE49-F238E27FC236}">
                <a16:creationId xmlns:a16="http://schemas.microsoft.com/office/drawing/2014/main" id="{62C3D3C4-26A3-2084-A660-FA40455FE0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000" dirty="0"/>
              <a:t>05: How many unique users talked about the issue?</a:t>
            </a:r>
            <a:endParaRPr sz="2000" dirty="0"/>
          </a:p>
        </p:txBody>
      </p:sp>
      <p:sp>
        <p:nvSpPr>
          <p:cNvPr id="614" name="Google Shape;614;p73">
            <a:extLst>
              <a:ext uri="{FF2B5EF4-FFF2-40B4-BE49-F238E27FC236}">
                <a16:creationId xmlns:a16="http://schemas.microsoft.com/office/drawing/2014/main" id="{03990DEF-7866-958C-41A9-E4ADC2823F30}"/>
              </a:ext>
            </a:extLst>
          </p:cNvPr>
          <p:cNvSpPr txBox="1"/>
          <p:nvPr/>
        </p:nvSpPr>
        <p:spPr>
          <a:xfrm>
            <a:off x="713225" y="1017725"/>
            <a:ext cx="7370902" cy="266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 total of 8444 unique users talked about the issue across 67 different sources.</a:t>
            </a:r>
            <a:endParaRPr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89443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>
          <a:extLst>
            <a:ext uri="{FF2B5EF4-FFF2-40B4-BE49-F238E27FC236}">
              <a16:creationId xmlns:a16="http://schemas.microsoft.com/office/drawing/2014/main" id="{645AB907-0A40-66BD-08D6-65774C92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0">
            <a:extLst>
              <a:ext uri="{FF2B5EF4-FFF2-40B4-BE49-F238E27FC236}">
                <a16:creationId xmlns:a16="http://schemas.microsoft.com/office/drawing/2014/main" id="{C91459DD-0B51-1C41-3238-6F30DE65C1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7300" y="2366275"/>
            <a:ext cx="74094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What are the top hashtags used?</a:t>
            </a:r>
            <a:endParaRPr sz="4000" dirty="0"/>
          </a:p>
        </p:txBody>
      </p:sp>
      <p:sp>
        <p:nvSpPr>
          <p:cNvPr id="579" name="Google Shape;579;p70">
            <a:extLst>
              <a:ext uri="{FF2B5EF4-FFF2-40B4-BE49-F238E27FC236}">
                <a16:creationId xmlns:a16="http://schemas.microsoft.com/office/drawing/2014/main" id="{736E3F55-3C9D-CF43-405A-4094CE03CBB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6411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BE8B802D-BF17-ACB1-E583-E114C2551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3">
            <a:extLst>
              <a:ext uri="{FF2B5EF4-FFF2-40B4-BE49-F238E27FC236}">
                <a16:creationId xmlns:a16="http://schemas.microsoft.com/office/drawing/2014/main" id="{60131DFB-20CA-8C99-E447-B26768D476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000" dirty="0"/>
              <a:t>06: What are the top hashtags used?</a:t>
            </a:r>
            <a:endParaRPr sz="2000" dirty="0"/>
          </a:p>
        </p:txBody>
      </p:sp>
      <p:sp>
        <p:nvSpPr>
          <p:cNvPr id="614" name="Google Shape;614;p73">
            <a:extLst>
              <a:ext uri="{FF2B5EF4-FFF2-40B4-BE49-F238E27FC236}">
                <a16:creationId xmlns:a16="http://schemas.microsoft.com/office/drawing/2014/main" id="{695BB2EE-3A2C-57CD-2459-BC60128E3032}"/>
              </a:ext>
            </a:extLst>
          </p:cNvPr>
          <p:cNvSpPr txBox="1"/>
          <p:nvPr/>
        </p:nvSpPr>
        <p:spPr>
          <a:xfrm>
            <a:off x="5192470" y="1217697"/>
            <a:ext cx="3875330" cy="266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As shown in the graph,  these are the top 10 most used hashtags.</a:t>
            </a:r>
            <a:endParaRPr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0" name="Google Shape;620;p73">
            <a:hlinkClick r:id="rId3"/>
            <a:extLst>
              <a:ext uri="{FF2B5EF4-FFF2-40B4-BE49-F238E27FC236}">
                <a16:creationId xmlns:a16="http://schemas.microsoft.com/office/drawing/2014/main" id="{A2D3100E-7974-BEBF-B515-255C04D48D38}"/>
              </a:ext>
            </a:extLst>
          </p:cNvPr>
          <p:cNvPicPr preferRelativeResize="0"/>
          <p:nvPr/>
        </p:nvPicPr>
        <p:blipFill>
          <a:blip r:embed="rId4"/>
          <a:srcRect t="2333" b="2333"/>
          <a:stretch/>
        </p:blipFill>
        <p:spPr>
          <a:xfrm>
            <a:off x="588818" y="1017725"/>
            <a:ext cx="4398818" cy="3554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3319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>
          <a:extLst>
            <a:ext uri="{FF2B5EF4-FFF2-40B4-BE49-F238E27FC236}">
              <a16:creationId xmlns:a16="http://schemas.microsoft.com/office/drawing/2014/main" id="{48E82931-FEF5-9185-0CBF-CA8D5AC3F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0">
            <a:extLst>
              <a:ext uri="{FF2B5EF4-FFF2-40B4-BE49-F238E27FC236}">
                <a16:creationId xmlns:a16="http://schemas.microsoft.com/office/drawing/2014/main" id="{DAF7F8B8-7BE1-2750-C070-BDF4AB557F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7300" y="2366275"/>
            <a:ext cx="74094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Which gender talked about the issue most?</a:t>
            </a:r>
            <a:endParaRPr sz="4000" dirty="0"/>
          </a:p>
        </p:txBody>
      </p:sp>
      <p:sp>
        <p:nvSpPr>
          <p:cNvPr id="579" name="Google Shape;579;p70">
            <a:extLst>
              <a:ext uri="{FF2B5EF4-FFF2-40B4-BE49-F238E27FC236}">
                <a16:creationId xmlns:a16="http://schemas.microsoft.com/office/drawing/2014/main" id="{0F8F63B4-BC29-94FD-47E9-1EA5F1FBA1D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3074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DA2F7B12-D8B6-29E8-0573-4649D6105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3">
            <a:extLst>
              <a:ext uri="{FF2B5EF4-FFF2-40B4-BE49-F238E27FC236}">
                <a16:creationId xmlns:a16="http://schemas.microsoft.com/office/drawing/2014/main" id="{92B9B777-D047-F548-9601-DBE4B4A2A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000" dirty="0"/>
              <a:t>07: Which gender talked about the issue most? (NOT AVAILABLE)</a:t>
            </a:r>
            <a:endParaRPr sz="2000" dirty="0"/>
          </a:p>
        </p:txBody>
      </p:sp>
      <p:sp>
        <p:nvSpPr>
          <p:cNvPr id="614" name="Google Shape;614;p73">
            <a:extLst>
              <a:ext uri="{FF2B5EF4-FFF2-40B4-BE49-F238E27FC236}">
                <a16:creationId xmlns:a16="http://schemas.microsoft.com/office/drawing/2014/main" id="{510FD840-35ED-EFB1-F2EA-EB74FF68A51C}"/>
              </a:ext>
            </a:extLst>
          </p:cNvPr>
          <p:cNvSpPr txBox="1"/>
          <p:nvPr/>
        </p:nvSpPr>
        <p:spPr>
          <a:xfrm>
            <a:off x="713225" y="1017725"/>
            <a:ext cx="7370902" cy="266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Gender information was not included in the dataset and could not be reliably deduced from available fields such as screen names or usernames. </a:t>
            </a:r>
          </a:p>
          <a:p>
            <a:pPr lvl="0" algn="just">
              <a:buClr>
                <a:schemeClr val="dk1"/>
              </a:buClr>
              <a:buSzPts val="1100"/>
            </a:pPr>
            <a:endParaRPr lang="en-US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 algn="just"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 assumptions were made regarding the gender of users. As a result, this question could not be answered using the provided data.</a:t>
            </a:r>
            <a:endParaRPr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05809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592D6BB3-FCD2-A242-21C4-2CD84DECE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>
            <a:extLst>
              <a:ext uri="{FF2B5EF4-FFF2-40B4-BE49-F238E27FC236}">
                <a16:creationId xmlns:a16="http://schemas.microsoft.com/office/drawing/2014/main" id="{5E3134B9-F58F-6D06-F155-FC9AD6BA4E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75684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Tableau Dashboard</a:t>
            </a:r>
            <a:endParaRPr dirty="0"/>
          </a:p>
        </p:txBody>
      </p:sp>
      <p:sp>
        <p:nvSpPr>
          <p:cNvPr id="495" name="Google Shape;495;p61">
            <a:extLst>
              <a:ext uri="{FF2B5EF4-FFF2-40B4-BE49-F238E27FC236}">
                <a16:creationId xmlns:a16="http://schemas.microsoft.com/office/drawing/2014/main" id="{1E7A8AE9-13F4-EADB-6975-467F5F0B9B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3250" y="1017725"/>
            <a:ext cx="7717500" cy="35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>
              <a:buSzPts val="1100"/>
              <a:buNone/>
            </a:pPr>
            <a:r>
              <a:rPr lang="en-US" dirty="0">
                <a:solidFill>
                  <a:schemeClr val="dk1"/>
                </a:solidFill>
              </a:rPr>
              <a:t>Link: </a:t>
            </a:r>
            <a:r>
              <a:rPr lang="en-US" dirty="0">
                <a:solidFill>
                  <a:schemeClr val="dk1"/>
                </a:solidFill>
                <a:hlinkClick r:id="rId3"/>
              </a:rPr>
              <a:t>https://public.tableau.com/app/profile/ashton.wong/viz/Book1_17517014528350/Dashboard1</a:t>
            </a:r>
            <a:endParaRPr lang="en-US" dirty="0">
              <a:solidFill>
                <a:schemeClr val="dk1"/>
              </a:solidFill>
            </a:endParaRPr>
          </a:p>
          <a:p>
            <a:pPr marL="158750" lvl="0" indent="0">
              <a:buSzPts val="1100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158750" lvl="0" indent="0">
              <a:buSzPts val="1100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158750" indent="0">
              <a:buSzPts val="1100"/>
              <a:buNone/>
            </a:pPr>
            <a:endParaRPr lang="en-US" dirty="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D02E17-0409-37D3-17D0-89D8C77053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1302327"/>
            <a:ext cx="9144000" cy="383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800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4EDB0B5C-1E98-530D-0C46-BCC1A2816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3">
            <a:extLst>
              <a:ext uri="{FF2B5EF4-FFF2-40B4-BE49-F238E27FC236}">
                <a16:creationId xmlns:a16="http://schemas.microsoft.com/office/drawing/2014/main" id="{051F8C57-75FA-7745-E23D-5B2F7F32AF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000" dirty="0"/>
              <a:t>One recommendation</a:t>
            </a:r>
            <a:endParaRPr sz="2000" dirty="0"/>
          </a:p>
        </p:txBody>
      </p:sp>
      <p:sp>
        <p:nvSpPr>
          <p:cNvPr id="614" name="Google Shape;614;p73">
            <a:extLst>
              <a:ext uri="{FF2B5EF4-FFF2-40B4-BE49-F238E27FC236}">
                <a16:creationId xmlns:a16="http://schemas.microsoft.com/office/drawing/2014/main" id="{6965CF8B-939E-CC26-1DFE-0EDE91486AD2}"/>
              </a:ext>
            </a:extLst>
          </p:cNvPr>
          <p:cNvSpPr txBox="1"/>
          <p:nvPr/>
        </p:nvSpPr>
        <p:spPr>
          <a:xfrm>
            <a:off x="713225" y="1017725"/>
            <a:ext cx="7370902" cy="266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Brands and stakeholders should closely monitor emerging conversations on Twitter, as Twitter could potentially show early signs of public sentiment shifts.</a:t>
            </a:r>
          </a:p>
        </p:txBody>
      </p:sp>
    </p:spTree>
    <p:extLst>
      <p:ext uri="{BB962C8B-B14F-4D97-AF65-F5344CB8AC3E}">
        <p14:creationId xmlns:p14="http://schemas.microsoft.com/office/powerpoint/2010/main" val="145191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FB814C83-D868-27BC-630B-AEF1CC69B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>
            <a:extLst>
              <a:ext uri="{FF2B5EF4-FFF2-40B4-BE49-F238E27FC236}">
                <a16:creationId xmlns:a16="http://schemas.microsoft.com/office/drawing/2014/main" id="{7939093E-E579-2EE4-4126-FC44CC5C013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THANK YOU!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4155217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</Words>
  <Application>Microsoft Office PowerPoint</Application>
  <PresentationFormat>On-screen Show (16:9)</PresentationFormat>
  <Paragraphs>44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Vidaloka</vt:lpstr>
      <vt:lpstr>Lato</vt:lpstr>
      <vt:lpstr>Montserrat</vt:lpstr>
      <vt:lpstr>Arial</vt:lpstr>
      <vt:lpstr>Minimalist Business Slides XL by Slidesgo</vt:lpstr>
      <vt:lpstr>PM10 Corporate Insights: Social Media and News Analysis </vt:lpstr>
      <vt:lpstr>My approach to this accessment</vt:lpstr>
      <vt:lpstr>When did the conversation pick up, peak and tapered off?</vt:lpstr>
      <vt:lpstr>01: When did the conversation pick up, peak and tapered off?</vt:lpstr>
      <vt:lpstr>Where did the conversation come from?</vt:lpstr>
      <vt:lpstr>02: Where did the conversation come from?</vt:lpstr>
      <vt:lpstr>What did the public feel about the issue?</vt:lpstr>
      <vt:lpstr>03: What did the public feel about the issue?</vt:lpstr>
      <vt:lpstr>Who generates the most buzz?</vt:lpstr>
      <vt:lpstr>04: Who generates the most buzz?</vt:lpstr>
      <vt:lpstr>How many unique users talked about the issue?</vt:lpstr>
      <vt:lpstr>05: How many unique users talked about the issue?</vt:lpstr>
      <vt:lpstr>What are the top hashtags used?</vt:lpstr>
      <vt:lpstr>06: What are the top hashtags used?</vt:lpstr>
      <vt:lpstr>Which gender talked about the issue most?</vt:lpstr>
      <vt:lpstr>07: Which gender talked about the issue most? (NOT AVAILABLE)</vt:lpstr>
      <vt:lpstr>Tableau Dashboard</vt:lpstr>
      <vt:lpstr>One recommendation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Ashton Wong</cp:lastModifiedBy>
  <cp:revision>1</cp:revision>
  <dcterms:modified xsi:type="dcterms:W3CDTF">2025-07-07T18:29:56Z</dcterms:modified>
</cp:coreProperties>
</file>